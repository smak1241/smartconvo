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7" r:id="rId3"/>
    <p:sldId id="258" r:id="rId4"/>
    <p:sldId id="261" r:id="rId5"/>
    <p:sldId id="262" r:id="rId6"/>
    <p:sldId id="264" r:id="rId7"/>
    <p:sldId id="266"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1B0F026-1B01-4E35-8DFC-C57398D6560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1B0F026-1B01-4E35-8DFC-C57398D6560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1B0F026-1B01-4E35-8DFC-C57398D6560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B1B0F026-1B01-4E35-8DFC-C57398D6560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B1B0F026-1B01-4E35-8DFC-C57398D6560C}"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1B0F026-1B01-4E35-8DFC-C57398D6560C}"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B0F026-1B01-4E35-8DFC-C57398D6560C}"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1B0F026-1B01-4E35-8DFC-C57398D6560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1B0F026-1B01-4E35-8DFC-C57398D6560C}"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1B0F026-1B01-4E35-8DFC-C57398D6560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1B0F026-1B01-4E35-8DFC-C57398D6560C}"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FDFFB0D-653D-45B7-8143-17596C4BEC1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B0F026-1B01-4E35-8DFC-C57398D6560C}"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FDFFB0D-653D-45B7-8143-17596C4BEC1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214967" y="201650"/>
            <a:ext cx="9762066" cy="64546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75" y="356870"/>
            <a:ext cx="11710035" cy="438785"/>
          </a:xfrm>
        </p:spPr>
        <p:txBody>
          <a:bodyPr>
            <a:noAutofit/>
          </a:bodyPr>
          <a:lstStyle/>
          <a:p>
            <a:r>
              <a:rPr lang="en-IN" sz="2800" b="1" dirty="0">
                <a:latin typeface="Times New Roman" panose="02020603050405020304" pitchFamily="18" charset="0"/>
                <a:cs typeface="Times New Roman" panose="02020603050405020304" pitchFamily="18" charset="0"/>
              </a:rPr>
              <a:t>Title-:Smart </a:t>
            </a:r>
            <a:r>
              <a:rPr lang="en-US" altLang="en-IN" sz="2800" b="1" dirty="0">
                <a:latin typeface="Times New Roman" panose="02020603050405020304" pitchFamily="18" charset="0"/>
                <a:cs typeface="Times New Roman" panose="02020603050405020304" pitchFamily="18" charset="0"/>
              </a:rPr>
              <a:t>C</a:t>
            </a:r>
            <a:r>
              <a:rPr lang="en-IN" sz="2800" b="1" dirty="0">
                <a:latin typeface="Times New Roman" panose="02020603050405020304" pitchFamily="18" charset="0"/>
                <a:cs typeface="Times New Roman" panose="02020603050405020304" pitchFamily="18" charset="0"/>
              </a:rPr>
              <a:t>onvo</a:t>
            </a:r>
            <a:r>
              <a:rPr lang="en-US" altLang="en-IN" sz="2800" b="1" dirty="0">
                <a:latin typeface="Times New Roman" panose="02020603050405020304" pitchFamily="18" charset="0"/>
                <a:cs typeface="Times New Roman" panose="02020603050405020304" pitchFamily="18" charset="0"/>
              </a:rPr>
              <a:t> an AI Assistant with ChatGPT Integration</a:t>
            </a:r>
            <a:endParaRPr lang="en-US" alt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37744" y="1241298"/>
            <a:ext cx="11082528" cy="4850891"/>
          </a:xfrm>
        </p:spPr>
        <p:txBody>
          <a:bodyPr>
            <a:normAutofit lnSpcReduction="10000"/>
          </a:bodyPr>
          <a:lstStyle/>
          <a:p>
            <a:pPr marL="0" indent="0">
              <a:buNone/>
            </a:pPr>
            <a:r>
              <a:rPr lang="en-IN" sz="24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spc="10" dirty="0">
                <a:solidFill>
                  <a:srgbClr val="364150"/>
                </a:solidFill>
                <a:latin typeface="Times New Roman" panose="02020603050405020304" pitchFamily="18" charset="0"/>
                <a:cs typeface="Times New Roman" panose="02020603050405020304" pitchFamily="18" charset="0"/>
              </a:rPr>
              <a:t>In recent years, voice assistants like </a:t>
            </a:r>
            <a:r>
              <a:rPr lang="en-US" sz="2400" spc="15" dirty="0">
                <a:solidFill>
                  <a:srgbClr val="364150"/>
                </a:solidFill>
                <a:latin typeface="Times New Roman" panose="02020603050405020304" pitchFamily="18" charset="0"/>
                <a:cs typeface="Times New Roman" panose="02020603050405020304" pitchFamily="18" charset="0"/>
              </a:rPr>
              <a:t>Siri </a:t>
            </a:r>
            <a:r>
              <a:rPr lang="en-US" sz="2400" spc="10" dirty="0">
                <a:solidFill>
                  <a:srgbClr val="364150"/>
                </a:solidFill>
                <a:latin typeface="Times New Roman" panose="02020603050405020304" pitchFamily="18" charset="0"/>
                <a:cs typeface="Times New Roman" panose="02020603050405020304" pitchFamily="18" charset="0"/>
              </a:rPr>
              <a:t>and </a:t>
            </a:r>
            <a:r>
              <a:rPr lang="en-US" sz="2400" spc="15" dirty="0">
                <a:solidFill>
                  <a:srgbClr val="364150"/>
                </a:solidFill>
                <a:latin typeface="Times New Roman" panose="02020603050405020304" pitchFamily="18" charset="0"/>
                <a:cs typeface="Times New Roman" panose="02020603050405020304" pitchFamily="18" charset="0"/>
              </a:rPr>
              <a:t>Google </a:t>
            </a:r>
            <a:r>
              <a:rPr lang="en-US" sz="2400" spc="10" dirty="0">
                <a:solidFill>
                  <a:srgbClr val="364150"/>
                </a:solidFill>
                <a:latin typeface="Times New Roman" panose="02020603050405020304" pitchFamily="18" charset="0"/>
                <a:cs typeface="Times New Roman" panose="02020603050405020304" pitchFamily="18" charset="0"/>
              </a:rPr>
              <a:t>Assistant have </a:t>
            </a:r>
            <a:r>
              <a:rPr lang="en-US" sz="2400" spc="15" dirty="0">
                <a:solidFill>
                  <a:srgbClr val="364150"/>
                </a:solidFill>
                <a:latin typeface="Times New Roman" panose="02020603050405020304" pitchFamily="18" charset="0"/>
                <a:cs typeface="Times New Roman" panose="02020603050405020304" pitchFamily="18" charset="0"/>
              </a:rPr>
              <a:t>become </a:t>
            </a:r>
            <a:r>
              <a:rPr lang="en-US" sz="2400" spc="10" dirty="0">
                <a:solidFill>
                  <a:srgbClr val="364150"/>
                </a:solidFill>
                <a:latin typeface="Times New Roman" panose="02020603050405020304" pitchFamily="18" charset="0"/>
                <a:cs typeface="Times New Roman" panose="02020603050405020304" pitchFamily="18" charset="0"/>
              </a:rPr>
              <a:t>integral parts of our daily lives, </a:t>
            </a:r>
            <a:r>
              <a:rPr lang="en-US" sz="2400" spc="15" dirty="0">
                <a:solidFill>
                  <a:srgbClr val="364150"/>
                </a:solidFill>
                <a:latin typeface="Times New Roman" panose="02020603050405020304" pitchFamily="18" charset="0"/>
                <a:cs typeface="Times New Roman" panose="02020603050405020304" pitchFamily="18" charset="0"/>
              </a:rPr>
              <a:t>simplifying </a:t>
            </a:r>
            <a:r>
              <a:rPr lang="en-US" sz="2400" spc="20"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tasks </a:t>
            </a:r>
            <a:r>
              <a:rPr lang="en-US" sz="2400" spc="15" dirty="0">
                <a:solidFill>
                  <a:srgbClr val="364150"/>
                </a:solidFill>
                <a:latin typeface="Times New Roman" panose="02020603050405020304" pitchFamily="18" charset="0"/>
                <a:cs typeface="Times New Roman" panose="02020603050405020304" pitchFamily="18" charset="0"/>
              </a:rPr>
              <a:t>and providing information </a:t>
            </a:r>
            <a:r>
              <a:rPr lang="en-US" sz="2400" spc="20" dirty="0">
                <a:solidFill>
                  <a:srgbClr val="364150"/>
                </a:solidFill>
                <a:latin typeface="Times New Roman" panose="02020603050405020304" pitchFamily="18" charset="0"/>
                <a:cs typeface="Times New Roman" panose="02020603050405020304" pitchFamily="18" charset="0"/>
              </a:rPr>
              <a:t>through </a:t>
            </a:r>
            <a:r>
              <a:rPr lang="en-US" sz="2400" spc="15" dirty="0">
                <a:solidFill>
                  <a:srgbClr val="364150"/>
                </a:solidFill>
                <a:latin typeface="Times New Roman" panose="02020603050405020304" pitchFamily="18" charset="0"/>
                <a:cs typeface="Times New Roman" panose="02020603050405020304" pitchFamily="18" charset="0"/>
              </a:rPr>
              <a:t>natural language interactions.</a:t>
            </a:r>
            <a:endParaRPr lang="en-US" sz="2400" spc="15" dirty="0">
              <a:solidFill>
                <a:srgbClr val="36415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However, </a:t>
            </a:r>
            <a:r>
              <a:rPr lang="en-US" sz="2400" spc="15" dirty="0">
                <a:solidFill>
                  <a:srgbClr val="364150"/>
                </a:solidFill>
                <a:latin typeface="Times New Roman" panose="02020603050405020304" pitchFamily="18" charset="0"/>
                <a:cs typeface="Times New Roman" panose="02020603050405020304" pitchFamily="18" charset="0"/>
              </a:rPr>
              <a:t>users often encounter challenges such </a:t>
            </a:r>
            <a:r>
              <a:rPr lang="en-US" sz="2400" spc="20"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as limited contextual </a:t>
            </a:r>
            <a:r>
              <a:rPr lang="en-US" sz="2400" spc="10" dirty="0">
                <a:solidFill>
                  <a:srgbClr val="364150"/>
                </a:solidFill>
                <a:latin typeface="Times New Roman" panose="02020603050405020304" pitchFamily="18" charset="0"/>
                <a:cs typeface="Times New Roman" panose="02020603050405020304" pitchFamily="18" charset="0"/>
              </a:rPr>
              <a:t>understanding, </a:t>
            </a:r>
            <a:r>
              <a:rPr lang="en-US" sz="2400" spc="5" dirty="0">
                <a:solidFill>
                  <a:srgbClr val="364150"/>
                </a:solidFill>
                <a:latin typeface="Times New Roman" panose="02020603050405020304" pitchFamily="18" charset="0"/>
                <a:cs typeface="Times New Roman" panose="02020603050405020304" pitchFamily="18" charset="0"/>
              </a:rPr>
              <a:t>lack </a:t>
            </a:r>
            <a:r>
              <a:rPr lang="en-US" sz="2400" spc="10" dirty="0">
                <a:solidFill>
                  <a:srgbClr val="364150"/>
                </a:solidFill>
                <a:latin typeface="Times New Roman" panose="02020603050405020304" pitchFamily="18" charset="0"/>
                <a:cs typeface="Times New Roman" panose="02020603050405020304" pitchFamily="18" charset="0"/>
              </a:rPr>
              <a:t>of </a:t>
            </a:r>
            <a:r>
              <a:rPr lang="en-US" sz="2400" spc="5" dirty="0">
                <a:solidFill>
                  <a:srgbClr val="364150"/>
                </a:solidFill>
                <a:latin typeface="Times New Roman" panose="02020603050405020304" pitchFamily="18" charset="0"/>
                <a:cs typeface="Times New Roman" panose="02020603050405020304" pitchFamily="18" charset="0"/>
              </a:rPr>
              <a:t>creativity in </a:t>
            </a:r>
            <a:r>
              <a:rPr lang="en-US" sz="2400" spc="10" dirty="0">
                <a:solidFill>
                  <a:srgbClr val="364150"/>
                </a:solidFill>
                <a:latin typeface="Times New Roman" panose="02020603050405020304" pitchFamily="18" charset="0"/>
                <a:cs typeface="Times New Roman" panose="02020603050405020304" pitchFamily="18" charset="0"/>
              </a:rPr>
              <a:t>responses, and </a:t>
            </a:r>
            <a:r>
              <a:rPr lang="en-US" sz="2400" spc="5" dirty="0">
                <a:solidFill>
                  <a:srgbClr val="364150"/>
                </a:solidFill>
                <a:latin typeface="Times New Roman" panose="02020603050405020304" pitchFamily="18" charset="0"/>
                <a:cs typeface="Times New Roman" panose="02020603050405020304" pitchFamily="18" charset="0"/>
              </a:rPr>
              <a:t>occasional misinterpretation </a:t>
            </a:r>
            <a:r>
              <a:rPr lang="en-US" sz="2400" spc="10" dirty="0">
                <a:solidFill>
                  <a:srgbClr val="364150"/>
                </a:solidFill>
                <a:latin typeface="Times New Roman" panose="02020603050405020304" pitchFamily="18" charset="0"/>
                <a:cs typeface="Times New Roman" panose="02020603050405020304" pitchFamily="18" charset="0"/>
              </a:rPr>
              <a:t>of commands. This </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project</a:t>
            </a:r>
            <a:r>
              <a:rPr lang="en-US" sz="2400" spc="20"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aims</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to</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address</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these </a:t>
            </a:r>
            <a:r>
              <a:rPr lang="en-US" sz="2400" spc="5" dirty="0">
                <a:solidFill>
                  <a:srgbClr val="364150"/>
                </a:solidFill>
                <a:latin typeface="Times New Roman" panose="02020603050405020304" pitchFamily="18" charset="0"/>
                <a:cs typeface="Times New Roman" panose="02020603050405020304" pitchFamily="18" charset="0"/>
              </a:rPr>
              <a:t>issues</a:t>
            </a:r>
            <a:r>
              <a:rPr lang="en-US" sz="2400" spc="15" dirty="0">
                <a:solidFill>
                  <a:srgbClr val="364150"/>
                </a:solidFill>
                <a:latin typeface="Times New Roman" panose="02020603050405020304" pitchFamily="18" charset="0"/>
                <a:cs typeface="Times New Roman" panose="02020603050405020304" pitchFamily="18" charset="0"/>
              </a:rPr>
              <a:t> by </a:t>
            </a:r>
            <a:r>
              <a:rPr lang="en-US" sz="2400" spc="5" dirty="0">
                <a:solidFill>
                  <a:srgbClr val="364150"/>
                </a:solidFill>
                <a:latin typeface="Times New Roman" panose="02020603050405020304" pitchFamily="18" charset="0"/>
                <a:cs typeface="Times New Roman" panose="02020603050405020304" pitchFamily="18" charset="0"/>
              </a:rPr>
              <a:t>developing</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an</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10" dirty="0">
                <a:solidFill>
                  <a:srgbClr val="364150"/>
                </a:solidFill>
                <a:latin typeface="Times New Roman" panose="02020603050405020304" pitchFamily="18" charset="0"/>
                <a:cs typeface="Times New Roman" panose="02020603050405020304" pitchFamily="18" charset="0"/>
              </a:rPr>
              <a:t>advanced</a:t>
            </a:r>
            <a:r>
              <a:rPr lang="en-US" sz="2400" spc="-85" dirty="0">
                <a:solidFill>
                  <a:srgbClr val="364150"/>
                </a:solidFill>
                <a:latin typeface="Times New Roman" panose="02020603050405020304" pitchFamily="18" charset="0"/>
                <a:cs typeface="Times New Roman" panose="02020603050405020304" pitchFamily="18" charset="0"/>
              </a:rPr>
              <a:t> </a:t>
            </a:r>
            <a:r>
              <a:rPr lang="en-US" sz="2400" spc="20" dirty="0">
                <a:solidFill>
                  <a:srgbClr val="364150"/>
                </a:solidFill>
                <a:latin typeface="Times New Roman" panose="02020603050405020304" pitchFamily="18" charset="0"/>
                <a:cs typeface="Times New Roman" panose="02020603050405020304" pitchFamily="18" charset="0"/>
              </a:rPr>
              <a:t>AI</a:t>
            </a:r>
            <a:r>
              <a:rPr lang="en-US" sz="2400" spc="10" dirty="0">
                <a:solidFill>
                  <a:srgbClr val="364150"/>
                </a:solidFill>
                <a:latin typeface="Times New Roman" panose="02020603050405020304" pitchFamily="18" charset="0"/>
                <a:cs typeface="Times New Roman" panose="02020603050405020304" pitchFamily="18" charset="0"/>
              </a:rPr>
              <a:t> voice </a:t>
            </a:r>
            <a:r>
              <a:rPr lang="en-US" sz="2400" spc="5" dirty="0">
                <a:solidFill>
                  <a:srgbClr val="364150"/>
                </a:solidFill>
                <a:latin typeface="Times New Roman" panose="02020603050405020304" pitchFamily="18" charset="0"/>
                <a:cs typeface="Times New Roman" panose="02020603050405020304" pitchFamily="18" charset="0"/>
              </a:rPr>
              <a:t>assistant</a:t>
            </a:r>
            <a:r>
              <a:rPr lang="en-US" sz="2400" spc="20"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seamlessly</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integrated</a:t>
            </a:r>
            <a:r>
              <a:rPr lang="en-US" sz="2400" spc="15" dirty="0">
                <a:solidFill>
                  <a:srgbClr val="364150"/>
                </a:solidFill>
                <a:latin typeface="Times New Roman" panose="02020603050405020304" pitchFamily="18" charset="0"/>
                <a:cs typeface="Times New Roman" panose="02020603050405020304" pitchFamily="18" charset="0"/>
              </a:rPr>
              <a:t> </a:t>
            </a:r>
            <a:r>
              <a:rPr lang="en-US" sz="2400" spc="5" dirty="0">
                <a:solidFill>
                  <a:srgbClr val="364150"/>
                </a:solidFill>
                <a:latin typeface="Times New Roman" panose="02020603050405020304" pitchFamily="18" charset="0"/>
                <a:cs typeface="Times New Roman" panose="02020603050405020304" pitchFamily="18" charset="0"/>
              </a:rPr>
              <a:t>with</a:t>
            </a:r>
            <a:r>
              <a:rPr lang="en-US" sz="2400" spc="20" dirty="0">
                <a:solidFill>
                  <a:srgbClr val="364150"/>
                </a:solidFill>
                <a:latin typeface="Times New Roman" panose="02020603050405020304" pitchFamily="18" charset="0"/>
                <a:cs typeface="Times New Roman" panose="02020603050405020304" pitchFamily="18" charset="0"/>
              </a:rPr>
              <a:t> </a:t>
            </a:r>
            <a:r>
              <a:rPr lang="en-US" sz="2400" spc="-5" dirty="0" err="1">
                <a:solidFill>
                  <a:srgbClr val="364150"/>
                </a:solidFill>
                <a:latin typeface="Times New Roman" panose="02020603050405020304" pitchFamily="18" charset="0"/>
                <a:cs typeface="Times New Roman" panose="02020603050405020304" pitchFamily="18" charset="0"/>
              </a:rPr>
              <a:t>ChatGpt</a:t>
            </a:r>
            <a:r>
              <a:rPr lang="en-US" sz="2400" spc="-5" dirty="0">
                <a:solidFill>
                  <a:srgbClr val="364150"/>
                </a:solidFill>
                <a:latin typeface="Times New Roman" panose="02020603050405020304" pitchFamily="18" charset="0"/>
                <a:cs typeface="Times New Roman" panose="02020603050405020304" pitchFamily="18" charset="0"/>
              </a:rPr>
              <a:t> . And drap the real time data using perplex ai.</a:t>
            </a:r>
            <a:endParaRPr lang="en-US" sz="2400" spc="-5" dirty="0">
              <a:solidFill>
                <a:srgbClr val="36415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sz="2400" spc="15" dirty="0">
                <a:solidFill>
                  <a:srgbClr val="364150"/>
                </a:solidFill>
                <a:latin typeface="Times New Roman" panose="02020603050405020304"/>
                <a:cs typeface="Times New Roman" panose="02020603050405020304"/>
              </a:rPr>
              <a:t>By </a:t>
            </a:r>
            <a:r>
              <a:rPr lang="en-US" sz="2400" spc="20" dirty="0">
                <a:solidFill>
                  <a:srgbClr val="364150"/>
                </a:solidFill>
                <a:latin typeface="Times New Roman" panose="02020603050405020304"/>
                <a:cs typeface="Times New Roman" panose="02020603050405020304"/>
              </a:rPr>
              <a:t> </a:t>
            </a:r>
            <a:r>
              <a:rPr lang="en-US" sz="2400" spc="50" dirty="0">
                <a:solidFill>
                  <a:srgbClr val="364150"/>
                </a:solidFill>
                <a:latin typeface="Times New Roman" panose="02020603050405020304"/>
                <a:cs typeface="Times New Roman" panose="02020603050405020304"/>
              </a:rPr>
              <a:t>utilizing </a:t>
            </a:r>
            <a:r>
              <a:rPr lang="en-US" sz="2400" spc="40" dirty="0">
                <a:solidFill>
                  <a:srgbClr val="364150"/>
                </a:solidFill>
                <a:latin typeface="Times New Roman" panose="02020603050405020304"/>
                <a:cs typeface="Times New Roman" panose="02020603050405020304"/>
              </a:rPr>
              <a:t>the </a:t>
            </a:r>
            <a:r>
              <a:rPr lang="en-US" sz="2400" spc="55" dirty="0">
                <a:solidFill>
                  <a:srgbClr val="364150"/>
                </a:solidFill>
                <a:latin typeface="Times New Roman" panose="02020603050405020304"/>
                <a:cs typeface="Times New Roman" panose="02020603050405020304"/>
              </a:rPr>
              <a:t>OpenAI </a:t>
            </a:r>
            <a:r>
              <a:rPr lang="en-US" sz="2400" spc="50" dirty="0">
                <a:solidFill>
                  <a:srgbClr val="364150"/>
                </a:solidFill>
                <a:latin typeface="Times New Roman" panose="02020603050405020304"/>
                <a:cs typeface="Times New Roman" panose="02020603050405020304"/>
              </a:rPr>
              <a:t>GPT API, </a:t>
            </a:r>
            <a:r>
              <a:rPr lang="en-US" sz="2400" spc="40" dirty="0">
                <a:solidFill>
                  <a:srgbClr val="364150"/>
                </a:solidFill>
                <a:latin typeface="Times New Roman" panose="02020603050405020304"/>
                <a:cs typeface="Times New Roman" panose="02020603050405020304"/>
              </a:rPr>
              <a:t>our </a:t>
            </a:r>
            <a:r>
              <a:rPr lang="en-US" sz="2400" spc="55" dirty="0">
                <a:solidFill>
                  <a:srgbClr val="364150"/>
                </a:solidFill>
                <a:latin typeface="Times New Roman" panose="02020603050405020304"/>
                <a:cs typeface="Times New Roman" panose="02020603050405020304"/>
              </a:rPr>
              <a:t>assistant </a:t>
            </a:r>
            <a:r>
              <a:rPr lang="en-US" sz="2400" spc="50" dirty="0">
                <a:solidFill>
                  <a:srgbClr val="364150"/>
                </a:solidFill>
                <a:latin typeface="Times New Roman" panose="02020603050405020304"/>
                <a:cs typeface="Times New Roman" panose="02020603050405020304"/>
              </a:rPr>
              <a:t>can </a:t>
            </a:r>
            <a:r>
              <a:rPr lang="en-US" sz="2400" spc="55" dirty="0">
                <a:solidFill>
                  <a:srgbClr val="364150"/>
                </a:solidFill>
                <a:latin typeface="Times New Roman" panose="02020603050405020304"/>
                <a:cs typeface="Times New Roman" panose="02020603050405020304"/>
              </a:rPr>
              <a:t>generate </a:t>
            </a:r>
            <a:r>
              <a:rPr lang="en-US" sz="2400" spc="45" dirty="0">
                <a:solidFill>
                  <a:srgbClr val="364150"/>
                </a:solidFill>
                <a:latin typeface="Times New Roman" panose="02020603050405020304"/>
                <a:cs typeface="Times New Roman" panose="02020603050405020304"/>
              </a:rPr>
              <a:t>rich, </a:t>
            </a:r>
            <a:r>
              <a:rPr lang="en-US" sz="2400" spc="55" dirty="0">
                <a:solidFill>
                  <a:srgbClr val="364150"/>
                </a:solidFill>
                <a:latin typeface="Times New Roman" panose="02020603050405020304"/>
                <a:cs typeface="Times New Roman" panose="02020603050405020304"/>
              </a:rPr>
              <a:t>descriptive, </a:t>
            </a:r>
            <a:r>
              <a:rPr lang="en-US" sz="2400" spc="40" dirty="0">
                <a:solidFill>
                  <a:srgbClr val="364150"/>
                </a:solidFill>
                <a:latin typeface="Times New Roman" panose="02020603050405020304"/>
                <a:cs typeface="Times New Roman" panose="02020603050405020304"/>
              </a:rPr>
              <a:t>and </a:t>
            </a:r>
            <a:r>
              <a:rPr lang="en-US" sz="2400" spc="55" dirty="0">
                <a:solidFill>
                  <a:srgbClr val="364150"/>
                </a:solidFill>
                <a:latin typeface="Times New Roman" panose="02020603050405020304"/>
                <a:cs typeface="Times New Roman" panose="02020603050405020304"/>
              </a:rPr>
              <a:t>contextually relevant responses, </a:t>
            </a:r>
            <a:r>
              <a:rPr lang="en-US" sz="2400" spc="60" dirty="0">
                <a:solidFill>
                  <a:srgbClr val="364150"/>
                </a:solidFill>
                <a:latin typeface="Times New Roman" panose="02020603050405020304"/>
                <a:cs typeface="Times New Roman" panose="02020603050405020304"/>
              </a:rPr>
              <a:t> </a:t>
            </a:r>
            <a:r>
              <a:rPr lang="en-US" sz="2400" spc="10" dirty="0">
                <a:solidFill>
                  <a:srgbClr val="364150"/>
                </a:solidFill>
                <a:latin typeface="Times New Roman" panose="02020603050405020304"/>
                <a:cs typeface="Times New Roman" panose="02020603050405020304"/>
              </a:rPr>
              <a:t>surpassing</a:t>
            </a:r>
            <a:r>
              <a:rPr lang="en-US" sz="2400" spc="5" dirty="0">
                <a:solidFill>
                  <a:srgbClr val="364150"/>
                </a:solidFill>
                <a:latin typeface="Times New Roman" panose="02020603050405020304"/>
                <a:cs typeface="Times New Roman" panose="02020603050405020304"/>
              </a:rPr>
              <a:t> the</a:t>
            </a:r>
            <a:r>
              <a:rPr lang="en-US" sz="2400" spc="15" dirty="0">
                <a:solidFill>
                  <a:srgbClr val="364150"/>
                </a:solidFill>
                <a:latin typeface="Times New Roman" panose="02020603050405020304"/>
                <a:cs typeface="Times New Roman" panose="02020603050405020304"/>
              </a:rPr>
              <a:t> </a:t>
            </a:r>
            <a:r>
              <a:rPr lang="en-US" sz="2400" spc="5" dirty="0">
                <a:solidFill>
                  <a:srgbClr val="364150"/>
                </a:solidFill>
                <a:latin typeface="Times New Roman" panose="02020603050405020304"/>
                <a:cs typeface="Times New Roman" panose="02020603050405020304"/>
              </a:rPr>
              <a:t>limitations </a:t>
            </a:r>
            <a:r>
              <a:rPr lang="en-US" sz="2400" spc="10" dirty="0">
                <a:solidFill>
                  <a:srgbClr val="364150"/>
                </a:solidFill>
                <a:latin typeface="Times New Roman" panose="02020603050405020304"/>
                <a:cs typeface="Times New Roman" panose="02020603050405020304"/>
              </a:rPr>
              <a:t>observed</a:t>
            </a:r>
            <a:r>
              <a:rPr lang="en-US" sz="2400" spc="5" dirty="0">
                <a:solidFill>
                  <a:srgbClr val="364150"/>
                </a:solidFill>
                <a:latin typeface="Times New Roman" panose="02020603050405020304"/>
                <a:cs typeface="Times New Roman" panose="02020603050405020304"/>
              </a:rPr>
              <a:t> </a:t>
            </a:r>
            <a:r>
              <a:rPr lang="en-US" sz="2400" spc="10" dirty="0">
                <a:solidFill>
                  <a:srgbClr val="364150"/>
                </a:solidFill>
                <a:latin typeface="Times New Roman" panose="02020603050405020304"/>
                <a:cs typeface="Times New Roman" panose="02020603050405020304"/>
              </a:rPr>
              <a:t>in</a:t>
            </a:r>
            <a:r>
              <a:rPr lang="en-US" sz="2400" spc="5" dirty="0">
                <a:solidFill>
                  <a:srgbClr val="364150"/>
                </a:solidFill>
                <a:latin typeface="Times New Roman" panose="02020603050405020304"/>
                <a:cs typeface="Times New Roman" panose="02020603050405020304"/>
              </a:rPr>
              <a:t> existing</a:t>
            </a:r>
            <a:r>
              <a:rPr lang="en-US" sz="2400" spc="-10" dirty="0">
                <a:solidFill>
                  <a:srgbClr val="364150"/>
                </a:solidFill>
                <a:latin typeface="Times New Roman" panose="02020603050405020304"/>
                <a:cs typeface="Times New Roman" panose="02020603050405020304"/>
              </a:rPr>
              <a:t> </a:t>
            </a:r>
            <a:r>
              <a:rPr lang="en-US" sz="2400" spc="5" dirty="0">
                <a:solidFill>
                  <a:srgbClr val="364150"/>
                </a:solidFill>
                <a:latin typeface="Times New Roman" panose="02020603050405020304"/>
                <a:cs typeface="Times New Roman" panose="02020603050405020304"/>
              </a:rPr>
              <a:t>solutions.</a:t>
            </a:r>
            <a:endParaRPr lang="en-US" sz="2400" spc="5" dirty="0">
              <a:solidFill>
                <a:srgbClr val="364150"/>
              </a:solidFill>
              <a:latin typeface="Times New Roman" panose="02020603050405020304"/>
              <a:cs typeface="Times New Roman" panose="02020603050405020304"/>
            </a:endParaRPr>
          </a:p>
          <a:p>
            <a:pPr algn="just">
              <a:buFont typeface="Wingdings" panose="05000000000000000000" pitchFamily="2" charset="2"/>
              <a:buChar char="Ø"/>
            </a:pPr>
            <a:r>
              <a:rPr lang="en-US" sz="2400" dirty="0">
                <a:effectLst/>
                <a:latin typeface="Times New Roman" panose="02020603050405020304" pitchFamily="18" charset="0"/>
                <a:ea typeface="Times New Roman" panose="02020603050405020304" pitchFamily="18" charset="0"/>
              </a:rPr>
              <a:t>it utilizes Perplix AI to fetch real-time data when users ask for it. Overall project aims to create a user-friendly and helpful virtual assistant that can interact with users through text or speech input.</a:t>
            </a:r>
            <a:endParaRPr lang="en-US" sz="2400" dirty="0">
              <a:effectLst/>
              <a:latin typeface="Times New Roman" panose="02020603050405020304" pitchFamily="18" charset="0"/>
              <a:ea typeface="Times New Roman" panose="02020603050405020304" pitchFamily="18" charset="0"/>
            </a:endParaRPr>
          </a:p>
          <a:p>
            <a:pPr marL="0" indent="0" algn="just">
              <a:buNone/>
            </a:pPr>
            <a:endParaRPr lang="en-US" sz="2400" spc="5" dirty="0">
              <a:solidFill>
                <a:srgbClr val="364150"/>
              </a:solidFill>
              <a:latin typeface="Times New Roman" panose="02020603050405020304"/>
              <a:cs typeface="Times New Roman" panose="02020603050405020304"/>
            </a:endParaRPr>
          </a:p>
          <a:p>
            <a:pPr algn="just">
              <a:buFont typeface="Wingdings" panose="05000000000000000000" pitchFamily="2" charset="2"/>
              <a:buChar char="Ø"/>
            </a:pPr>
            <a:endParaRPr lang="en-US" sz="2400" spc="-5" dirty="0">
              <a:solidFill>
                <a:srgbClr val="36415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400" spc="-5" dirty="0">
              <a:solidFill>
                <a:srgbClr val="364150"/>
              </a:solidFill>
              <a:latin typeface="Times New Roman" panose="02020603050405020304" pitchFamily="18" charset="0"/>
              <a:cs typeface="Times New Roman" panose="02020603050405020304" pitchFamily="18" charset="0"/>
            </a:endParaRPr>
          </a:p>
          <a:p>
            <a:pPr marL="0" indent="0">
              <a:buNone/>
            </a:pPr>
            <a:endParaRPr lang="en-IN" b="1" dirty="0"/>
          </a:p>
          <a:p>
            <a:endParaRPr lang="en-IN"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872" y="534605"/>
            <a:ext cx="3477768" cy="448691"/>
          </a:xfrm>
        </p:spPr>
        <p:txBody>
          <a:bodyPr>
            <a:noAutofit/>
          </a:bodyPr>
          <a:lstStyle/>
          <a:p>
            <a:pPr>
              <a:lnSpc>
                <a:spcPct val="150000"/>
              </a:lnSpc>
              <a:spcBef>
                <a:spcPts val="935"/>
              </a:spcBef>
              <a:tabLst>
                <a:tab pos="1435100" algn="l"/>
                <a:tab pos="1435735" algn="l"/>
              </a:tabLst>
            </a:pPr>
            <a:r>
              <a:rPr lang="en-US" sz="2400" b="1" dirty="0">
                <a:effectLst/>
                <a:latin typeface="Times New Roman" panose="02020603050405020304" pitchFamily="18" charset="0"/>
                <a:ea typeface="Times New Roman" panose="02020603050405020304" pitchFamily="18" charset="0"/>
              </a:rPr>
              <a:t>OBJECTIVE:</a:t>
            </a:r>
            <a:endParaRPr lang="en-IN" sz="2400" dirty="0">
              <a:effectLst/>
              <a:latin typeface="Times New Roman" panose="02020603050405020304" pitchFamily="18" charset="0"/>
              <a:ea typeface="Times New Roman" panose="02020603050405020304" pitchFamily="18" charset="0"/>
            </a:endParaRPr>
          </a:p>
        </p:txBody>
      </p:sp>
      <p:sp>
        <p:nvSpPr>
          <p:cNvPr id="3" name="Content Placeholder 2"/>
          <p:cNvSpPr>
            <a:spLocks noGrp="1"/>
          </p:cNvSpPr>
          <p:nvPr>
            <p:ph idx="1"/>
          </p:nvPr>
        </p:nvSpPr>
        <p:spPr>
          <a:xfrm>
            <a:off x="0" y="1614360"/>
            <a:ext cx="11795760" cy="3836099"/>
          </a:xfrm>
        </p:spPr>
        <p:txBody>
          <a:bodyPr/>
          <a:lstStyle/>
          <a:p>
            <a:pPr algn="just"/>
            <a:r>
              <a:rPr lang="en-US" sz="2400" dirty="0">
                <a:effectLst/>
                <a:latin typeface="Times New Roman" panose="02020603050405020304" pitchFamily="18" charset="0"/>
                <a:ea typeface="Times New Roman" panose="02020603050405020304" pitchFamily="18" charset="0"/>
              </a:rPr>
              <a:t>This integration will elevate the assistant's functionality,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fostering a more comprehensive and interconnected digital experience for users</a:t>
            </a:r>
            <a:endParaRPr lang="en-US" sz="2400"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Facilitate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effective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task</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time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management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for</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users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by</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implementing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features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such</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setting</a:t>
            </a:r>
            <a:r>
              <a:rPr lang="en-US" sz="2400" spc="-28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reminders,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scheduling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events,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delivering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proactive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notifications.</a:t>
            </a:r>
            <a:endParaRPr lang="en-US" sz="2400" dirty="0">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This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empowers</a:t>
            </a:r>
            <a:r>
              <a:rPr lang="en-US" sz="2400" spc="-28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individuals to effortlessly organize tasks, appointments, and to-do lists, ultimately enhancing</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productivity and time optimization</a:t>
            </a:r>
            <a:endParaRPr lang="en-US" sz="2400" dirty="0">
              <a:effectLst/>
              <a:latin typeface="Times New Roman" panose="02020603050405020304" pitchFamily="18" charset="0"/>
              <a:ea typeface="Times New Roman" panose="02020603050405020304" pitchFamily="18" charset="0"/>
            </a:endParaRPr>
          </a:p>
          <a:p>
            <a:pPr algn="just"/>
            <a:r>
              <a:rPr lang="en-US" sz="2400" dirty="0">
                <a:effectLst/>
                <a:latin typeface="Times New Roman" panose="02020603050405020304" pitchFamily="18" charset="0"/>
                <a:ea typeface="Times New Roman" panose="02020603050405020304" pitchFamily="18" charset="0"/>
              </a:rPr>
              <a:t>By integrating ChatGPT, the objective is to instill the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assistant</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with</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heightened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contextual</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awareness,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creative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response</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capabilities,</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and</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an</a:t>
            </a:r>
            <a:r>
              <a:rPr lang="en-US" sz="2400" spc="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improved</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ability</a:t>
            </a:r>
            <a:r>
              <a:rPr lang="en-US" sz="2400" spc="12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to</a:t>
            </a:r>
            <a:r>
              <a:rPr lang="en-US" sz="2400" spc="125"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understand</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user</a:t>
            </a:r>
            <a:r>
              <a:rPr lang="en-US" sz="2400" spc="130" dirty="0">
                <a:effectLst/>
                <a:latin typeface="Times New Roman" panose="02020603050405020304" pitchFamily="18" charset="0"/>
                <a:ea typeface="Times New Roman" panose="02020603050405020304" pitchFamily="18" charset="0"/>
              </a:rPr>
              <a:t> </a:t>
            </a:r>
            <a:r>
              <a:rPr lang="en-US" sz="2400" dirty="0">
                <a:effectLst/>
                <a:latin typeface="Times New Roman" panose="02020603050405020304" pitchFamily="18" charset="0"/>
                <a:ea typeface="Times New Roman" panose="02020603050405020304" pitchFamily="18" charset="0"/>
              </a:rPr>
              <a:t>intent</a:t>
            </a:r>
            <a:endParaRPr lang="en-US" sz="2400" dirty="0">
              <a:effectLst/>
              <a:latin typeface="Times New Roman" panose="02020603050405020304" pitchFamily="18" charset="0"/>
              <a:ea typeface="Times New Roman" panose="02020603050405020304"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339072" cy="860171"/>
          </a:xfrm>
        </p:spPr>
        <p:txBody>
          <a:bodyPr>
            <a:normAutofit/>
          </a:bodyPr>
          <a:lstStyle/>
          <a:p>
            <a:r>
              <a:rPr lang="en-IN" sz="2800" b="1" dirty="0">
                <a:latin typeface="Times New Roman" panose="02020603050405020304" pitchFamily="18" charset="0"/>
                <a:cs typeface="Times New Roman" panose="02020603050405020304" pitchFamily="18" charset="0"/>
              </a:rPr>
              <a:t>End User/Beneficiary</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3331"/>
            <a:ext cx="10515600" cy="4351338"/>
          </a:xfrm>
        </p:spPr>
        <p:txBody>
          <a:bodyPr>
            <a:normAutofit lnSpcReduction="10000"/>
          </a:bodyPr>
          <a:lstStyle/>
          <a:p>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General Users:</a:t>
            </a: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 Individuals who seek assistance with various tasks, such as retrieving information, managing schedules, setting reminders, or getting answers to questions.</a:t>
            </a:r>
            <a:endPar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Students and Educators:</a:t>
            </a: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 Students and educators may utilize the personal assistant for educational purposes, such as accessing educational resources, finding answers to academic questions, or getting assistance with studying and learning.</a:t>
            </a:r>
            <a:endPar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Journalists and Fact-Checkers:</a:t>
            </a: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 Journalists, fact-checkers, and media professionals may leverage the personal assistant to verify information, gather data.</a:t>
            </a:r>
            <a:endPar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Businesses and Organizations:</a:t>
            </a: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 Businesses and organizations may deploy the personal assistant internally to improve productivity, streamline information retrieval, automate tasks</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5785" y="0"/>
            <a:ext cx="10515600" cy="1325563"/>
          </a:xfrm>
        </p:spPr>
        <p:txBody>
          <a:bodyPr>
            <a:normAutofit/>
          </a:bodyPr>
          <a:lstStyle/>
          <a:p>
            <a:r>
              <a:rPr lang="en-IN" sz="3110" b="1" dirty="0">
                <a:latin typeface="Times New Roman" panose="02020603050405020304" pitchFamily="18" charset="0"/>
                <a:cs typeface="Times New Roman" panose="02020603050405020304" pitchFamily="18" charset="0"/>
              </a:rPr>
              <a:t>Differences between </a:t>
            </a:r>
            <a:endParaRPr lang="en-IN" sz="3110" dirty="0"/>
          </a:p>
        </p:txBody>
      </p:sp>
      <p:graphicFrame>
        <p:nvGraphicFramePr>
          <p:cNvPr id="14" name="Content Placeholder 13"/>
          <p:cNvGraphicFramePr>
            <a:graphicFrameLocks noGrp="1"/>
          </p:cNvGraphicFramePr>
          <p:nvPr>
            <p:ph idx="1"/>
          </p:nvPr>
        </p:nvGraphicFramePr>
        <p:xfrm>
          <a:off x="348615" y="1042035"/>
          <a:ext cx="11365230" cy="5532755"/>
        </p:xfrm>
        <a:graphic>
          <a:graphicData uri="http://schemas.openxmlformats.org/drawingml/2006/table">
            <a:tbl>
              <a:tblPr firstRow="1" bandRow="1">
                <a:tableStyleId>{5C22544A-7EE6-4342-B048-85BDC9FD1C3A}</a:tableStyleId>
              </a:tblPr>
              <a:tblGrid>
                <a:gridCol w="5682615"/>
                <a:gridCol w="5682615"/>
              </a:tblGrid>
              <a:tr h="974090">
                <a:tc>
                  <a:txBody>
                    <a:bodyPr/>
                    <a:lstStyle/>
                    <a:p>
                      <a:pPr algn="ctr">
                        <a:buNone/>
                      </a:pPr>
                      <a:r>
                        <a:rPr lang="en-IN" sz="2800" dirty="0">
                          <a:latin typeface="Times New Roman" panose="02020603050405020304" pitchFamily="18" charset="0"/>
                          <a:cs typeface="Times New Roman" panose="02020603050405020304" pitchFamily="18" charset="0"/>
                          <a:sym typeface="+mn-ea"/>
                        </a:rPr>
                        <a:t>EXISTING SYSTEM</a:t>
                      </a:r>
                      <a:endParaRPr lang="en-IN" sz="2800" dirty="0">
                        <a:latin typeface="Times New Roman" panose="02020603050405020304" pitchFamily="18" charset="0"/>
                        <a:cs typeface="Times New Roman" panose="02020603050405020304" pitchFamily="18" charset="0"/>
                        <a:sym typeface="+mn-ea"/>
                      </a:endParaRPr>
                    </a:p>
                  </a:txBody>
                  <a:tcPr/>
                </a:tc>
                <a:tc>
                  <a:txBody>
                    <a:bodyPr/>
                    <a:lstStyle/>
                    <a:p>
                      <a:pPr algn="ctr">
                        <a:buNone/>
                      </a:pPr>
                      <a:r>
                        <a:rPr lang="en-IN" sz="2800" dirty="0">
                          <a:latin typeface="Times New Roman" panose="02020603050405020304" pitchFamily="18" charset="0"/>
                          <a:cs typeface="Times New Roman" panose="02020603050405020304" pitchFamily="18" charset="0"/>
                          <a:sym typeface="+mn-ea"/>
                        </a:rPr>
                        <a:t>PROPOSED SYSTEM</a:t>
                      </a:r>
                      <a:endParaRPr lang="en-IN" sz="2800" dirty="0">
                        <a:latin typeface="Times New Roman" panose="02020603050405020304" pitchFamily="18" charset="0"/>
                        <a:cs typeface="Times New Roman" panose="02020603050405020304" pitchFamily="18" charset="0"/>
                        <a:sym typeface="+mn-ea"/>
                      </a:endParaRPr>
                    </a:p>
                  </a:txBody>
                  <a:tcPr/>
                </a:tc>
              </a:tr>
              <a:tr h="974090">
                <a:tc>
                  <a:txBody>
                    <a:bodyPr/>
                    <a:lstStyle/>
                    <a:p>
                      <a:pPr marL="342900"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Limited Functionality</a:t>
                      </a:r>
                      <a:endParaRPr lang="en-US" sz="220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Real-time Data Retrieval</a:t>
                      </a:r>
                      <a:endParaRPr lang="en-US" sz="2200">
                        <a:latin typeface="Times New Roman" panose="02020603050405020304" pitchFamily="18" charset="0"/>
                        <a:cs typeface="Times New Roman" panose="02020603050405020304" pitchFamily="18" charset="0"/>
                      </a:endParaRPr>
                    </a:p>
                  </a:txBody>
                  <a:tcPr/>
                </a:tc>
              </a:tr>
              <a:tr h="974090">
                <a:tc>
                  <a:txBody>
                    <a:bodyPr/>
                    <a:lstStyle/>
                    <a:p>
                      <a:pPr marL="342900"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Manual Information Retrieval</a:t>
                      </a:r>
                      <a:endParaRPr lang="en-US" sz="220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Dynamic and Personalize Responses</a:t>
                      </a:r>
                      <a:endParaRPr lang="en-US" sz="2200">
                        <a:latin typeface="Times New Roman" panose="02020603050405020304" pitchFamily="18" charset="0"/>
                        <a:cs typeface="Times New Roman" panose="02020603050405020304" pitchFamily="18" charset="0"/>
                      </a:endParaRPr>
                    </a:p>
                  </a:txBody>
                  <a:tcPr/>
                </a:tc>
              </a:tr>
              <a:tr h="1636395">
                <a:tc>
                  <a:txBody>
                    <a:bodyPr/>
                    <a:lstStyle/>
                    <a:p>
                      <a:pPr marL="342900"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Static Responses</a:t>
                      </a:r>
                      <a:endParaRPr lang="en-US" sz="220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InteGrated With External Services like OPENAI</a:t>
                      </a:r>
                      <a:endParaRPr lang="en-US" sz="2200">
                        <a:latin typeface="Times New Roman" panose="02020603050405020304" pitchFamily="18" charset="0"/>
                        <a:cs typeface="Times New Roman" panose="02020603050405020304" pitchFamily="18" charset="0"/>
                      </a:endParaRPr>
                    </a:p>
                  </a:txBody>
                  <a:tcPr/>
                </a:tc>
              </a:tr>
              <a:tr h="974090">
                <a:tc>
                  <a:txBody>
                    <a:bodyPr/>
                    <a:lstStyle/>
                    <a:p>
                      <a:pPr marL="342900" indent="-34290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Limited integration</a:t>
                      </a:r>
                      <a:endParaRPr lang="en-US" sz="220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2200">
                          <a:latin typeface="Times New Roman" panose="02020603050405020304" pitchFamily="18" charset="0"/>
                          <a:cs typeface="Times New Roman" panose="02020603050405020304" pitchFamily="18" charset="0"/>
                        </a:rPr>
                        <a:t>Enhances Efficiency and Productivity</a:t>
                      </a:r>
                      <a:endParaRPr lang="en-US" sz="2200">
                        <a:latin typeface="Times New Roman" panose="02020603050405020304" pitchFamily="18" charset="0"/>
                        <a:cs typeface="Times New Roman" panose="02020603050405020304" pitchFamily="18" charset="0"/>
                      </a:endParaRPr>
                    </a:p>
                  </a:txBody>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Literature Survey</a:t>
            </a:r>
            <a:r>
              <a:rPr lang="en-IN" sz="3600" b="1" dirty="0"/>
              <a:t> </a:t>
            </a:r>
            <a:endParaRPr lang="en-IN" sz="3600" b="1" dirty="0"/>
          </a:p>
        </p:txBody>
      </p:sp>
      <p:sp>
        <p:nvSpPr>
          <p:cNvPr id="3" name="Content Placeholder 2"/>
          <p:cNvSpPr>
            <a:spLocks noGrp="1"/>
          </p:cNvSpPr>
          <p:nvPr>
            <p:ph idx="1"/>
          </p:nvPr>
        </p:nvSpPr>
        <p:spPr>
          <a:xfrm>
            <a:off x="838200" y="1423289"/>
            <a:ext cx="10515600" cy="4351338"/>
          </a:xfrm>
        </p:spPr>
        <p:txBody>
          <a:bodyPr/>
          <a:lstStyle/>
          <a:p>
            <a:r>
              <a:rPr lang="en-US" b="1" i="0" dirty="0">
                <a:solidFill>
                  <a:srgbClr val="0D0D0D"/>
                </a:solidFill>
                <a:effectLst/>
                <a:highlight>
                  <a:srgbClr val="FFFFFF"/>
                </a:highlight>
                <a:latin typeface="Times New Roman" panose="02020603050405020304" pitchFamily="18" charset="0"/>
                <a:cs typeface="Times New Roman" panose="02020603050405020304" pitchFamily="18" charset="0"/>
              </a:rPr>
              <a:t>"</a:t>
            </a:r>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Integration of Conversational AI Models with Personal Assistants: A Review"</a:t>
            </a:r>
            <a:b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This paper explores existing research and projects that integrate conversational AI models, such as ChatGPT, with personal assistants. It discusses the methodologies, challenges, and applications of such integrations in various domains</a:t>
            </a:r>
            <a:r>
              <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rPr>
              <a:t>.</a:t>
            </a:r>
            <a:endParaRPr lang="en-US"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r>
              <a:rPr lang="en-US" sz="2400" b="1" i="0" dirty="0">
                <a:solidFill>
                  <a:srgbClr val="0D0D0D"/>
                </a:solidFill>
                <a:effectLst/>
                <a:highlight>
                  <a:srgbClr val="FFFFFF"/>
                </a:highlight>
                <a:latin typeface="Times New Roman" panose="02020603050405020304" pitchFamily="18" charset="0"/>
                <a:cs typeface="Times New Roman" panose="02020603050405020304" pitchFamily="18" charset="0"/>
              </a:rPr>
              <a:t>"User-Centric Evaluation of Personal Assistant Integrations with ChatGPT"</a:t>
            </a:r>
            <a:br>
              <a:rPr lang="en-US" sz="2400" dirty="0">
                <a:latin typeface="Times New Roman" panose="02020603050405020304" pitchFamily="18" charset="0"/>
                <a:cs typeface="Times New Roman" panose="02020603050405020304" pitchFamily="18" charset="0"/>
              </a:rPr>
            </a:br>
            <a:r>
              <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rPr>
              <a:t>This study evaluates user perceptions and satisfaction with personal assistant integrations powered by ChatGPT. It investigates factors such as conversational quality, task completion rates, and user preferences to identify strengths and areas for improvement</a:t>
            </a:r>
            <a:endParaRPr lang="en-US" sz="24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b="1" dirty="0">
                <a:latin typeface="Times New Roman" panose="02020603050405020304" pitchFamily="18" charset="0"/>
                <a:cs typeface="Times New Roman" panose="02020603050405020304" pitchFamily="18" charset="0"/>
              </a:rPr>
              <a:t>Software used for the project:</a:t>
            </a:r>
            <a:endParaRPr lang="en-IN"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763204"/>
            <a:ext cx="11286744" cy="3807079"/>
          </a:xfrm>
        </p:spPr>
        <p:txBody>
          <a:bodyPr>
            <a:normAutofit fontScale="92500" lnSpcReduction="10000"/>
          </a:bodyPr>
          <a:lstStyle/>
          <a:p>
            <a:pPr algn="l"/>
            <a:r>
              <a:rPr lang="en-US" sz="2600" b="1" i="0" dirty="0">
                <a:solidFill>
                  <a:srgbClr val="0D0D0D"/>
                </a:solidFill>
                <a:effectLst/>
                <a:highlight>
                  <a:srgbClr val="FFFFFF"/>
                </a:highlight>
                <a:latin typeface="Times New Roman" panose="02020603050405020304" pitchFamily="18" charset="0"/>
                <a:cs typeface="Times New Roman" panose="02020603050405020304" pitchFamily="18" charset="0"/>
              </a:rPr>
              <a:t>Programming Languages:</a:t>
            </a:r>
            <a:endParaRPr lang="en-US"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2600" b="0" i="0" dirty="0">
                <a:solidFill>
                  <a:srgbClr val="0D0D0D"/>
                </a:solidFill>
                <a:effectLst/>
                <a:highlight>
                  <a:srgbClr val="FFFFFF"/>
                </a:highlight>
                <a:latin typeface="Times New Roman" panose="02020603050405020304" pitchFamily="18" charset="0"/>
                <a:cs typeface="Times New Roman" panose="02020603050405020304" pitchFamily="18" charset="0"/>
              </a:rPr>
              <a:t>Python: Python is commonly used for developing AI-driven applications due to its rich ecosystem of libraries </a:t>
            </a:r>
            <a:endParaRPr lang="en-US"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600" b="1" i="0" dirty="0">
                <a:solidFill>
                  <a:srgbClr val="0D0D0D"/>
                </a:solidFill>
                <a:effectLst/>
                <a:highlight>
                  <a:srgbClr val="FFFFFF"/>
                </a:highlight>
                <a:latin typeface="Times New Roman" panose="02020603050405020304" pitchFamily="18" charset="0"/>
                <a:cs typeface="Times New Roman" panose="02020603050405020304" pitchFamily="18" charset="0"/>
              </a:rPr>
              <a:t>AI and Libraries:</a:t>
            </a:r>
            <a:endPar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rPr>
              <a:t>OpenAI GPT: Utilize OpenAI's GPT (Generative Pre-trained Transformer) models, such as ChatGPT, for natural language processing tasks like understanding user queries and generating responses.</a:t>
            </a:r>
            <a:endPar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rPr>
              <a:t>PerplixAI SDK: Leverage the PerplixAI SDK or API for real-time data retrieval, allowing your system to fetch and integrate data from external sources</a:t>
            </a:r>
            <a:endPar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sz="2600" b="1" dirty="0">
                <a:solidFill>
                  <a:srgbClr val="0D0D0D"/>
                </a:solidFill>
                <a:highlight>
                  <a:srgbClr val="FFFFFF"/>
                </a:highlight>
                <a:latin typeface="Times New Roman" panose="02020603050405020304" pitchFamily="18" charset="0"/>
                <a:cs typeface="Times New Roman" panose="02020603050405020304" pitchFamily="18" charset="0"/>
              </a:rPr>
              <a:t>Platform: </a:t>
            </a:r>
            <a:r>
              <a:rPr lang="en-IN" sz="2600" dirty="0">
                <a:solidFill>
                  <a:srgbClr val="0D0D0D"/>
                </a:solidFill>
                <a:highlight>
                  <a:srgbClr val="FFFFFF"/>
                </a:highlight>
                <a:latin typeface="Times New Roman" panose="02020603050405020304" pitchFamily="18" charset="0"/>
                <a:cs typeface="Times New Roman" panose="02020603050405020304" pitchFamily="18" charset="0"/>
              </a:rPr>
              <a:t>visual studio code</a:t>
            </a:r>
            <a:endParaRPr lang="en-IN" sz="2600" b="0" i="0" dirty="0">
              <a:solidFill>
                <a:srgbClr val="0D0D0D"/>
              </a:solidFill>
              <a:effectLst/>
              <a:highlight>
                <a:srgbClr val="FFFFFF"/>
              </a:highligh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16736" y="1014984"/>
            <a:ext cx="6940296" cy="3277820"/>
          </a:xfrm>
          <a:prstGeom prst="rect">
            <a:avLst/>
          </a:prstGeom>
          <a:noFill/>
        </p:spPr>
        <p:txBody>
          <a:bodyPr wrap="square" rtlCol="0">
            <a:spAutoFit/>
          </a:bodyPr>
          <a:lstStyle/>
          <a:p>
            <a:r>
              <a:rPr lang="en-IN" sz="2400" b="1" dirty="0"/>
              <a:t>Hardware Used</a:t>
            </a:r>
            <a:endParaRPr lang="en-IN" sz="2400" b="1" dirty="0"/>
          </a:p>
          <a:p>
            <a:endParaRPr lang="en-IN" sz="2400" b="1" dirty="0"/>
          </a:p>
          <a:p>
            <a:pPr marL="800100" lvl="1" indent="-342900" algn="just">
              <a:lnSpc>
                <a:spcPct val="150000"/>
              </a:lnSpc>
              <a:buClr>
                <a:srgbClr val="1F1F1F"/>
              </a:buClr>
              <a:buSzPts val="1200"/>
              <a:buFont typeface="Symbol" panose="05050102010706020507" pitchFamily="18" charset="2"/>
              <a:buChar char=""/>
            </a:pPr>
            <a:r>
              <a:rPr lang="en-IN" b="1" dirty="0">
                <a:effectLst/>
                <a:latin typeface="Times New Roman" panose="02020603050405020304" pitchFamily="18" charset="0"/>
                <a:ea typeface="Symbol" panose="05050102010706020507" pitchFamily="18" charset="2"/>
                <a:cs typeface="Symbol" panose="05050102010706020507" pitchFamily="18" charset="2"/>
              </a:rPr>
              <a:t>Processor:</a:t>
            </a:r>
            <a:r>
              <a:rPr lang="en-IN" dirty="0">
                <a:effectLst/>
                <a:latin typeface="Times New Roman" panose="02020603050405020304" pitchFamily="18" charset="0"/>
                <a:ea typeface="Symbol" panose="05050102010706020507" pitchFamily="18" charset="2"/>
                <a:cs typeface="Symbol" panose="05050102010706020507" pitchFamily="18" charset="2"/>
              </a:rPr>
              <a:t> Intel Core i3 or higher</a:t>
            </a:r>
            <a:endParaRPr lang="en-IN" dirty="0">
              <a:effectLst/>
              <a:latin typeface="Times New Roman" panose="02020603050405020304" pitchFamily="18" charset="0"/>
              <a:ea typeface="Symbol" panose="05050102010706020507" pitchFamily="18" charset="2"/>
              <a:cs typeface="Symbol" panose="05050102010706020507" pitchFamily="18" charset="2"/>
            </a:endParaRPr>
          </a:p>
          <a:p>
            <a:pPr marL="800100" lvl="1" indent="-342900" algn="just">
              <a:lnSpc>
                <a:spcPct val="150000"/>
              </a:lnSpc>
              <a:buClr>
                <a:srgbClr val="1F1F1F"/>
              </a:buClr>
              <a:buSzPts val="1200"/>
              <a:buFont typeface="Symbol" panose="05050102010706020507" pitchFamily="18" charset="2"/>
              <a:buChar char=""/>
            </a:pPr>
            <a:r>
              <a:rPr lang="en-IN" b="1" dirty="0">
                <a:effectLst/>
                <a:latin typeface="Times New Roman" panose="02020603050405020304" pitchFamily="18" charset="0"/>
                <a:ea typeface="Symbol" panose="05050102010706020507" pitchFamily="18" charset="2"/>
                <a:cs typeface="Symbol" panose="05050102010706020507" pitchFamily="18" charset="2"/>
              </a:rPr>
              <a:t>RAM:</a:t>
            </a:r>
            <a:r>
              <a:rPr lang="en-IN" dirty="0">
                <a:effectLst/>
                <a:latin typeface="Times New Roman" panose="02020603050405020304" pitchFamily="18" charset="0"/>
                <a:ea typeface="Symbol" panose="05050102010706020507" pitchFamily="18" charset="2"/>
                <a:cs typeface="Symbol" panose="05050102010706020507" pitchFamily="18" charset="2"/>
              </a:rPr>
              <a:t> At least 2 GB</a:t>
            </a:r>
            <a:endParaRPr lang="en-IN" dirty="0">
              <a:effectLst/>
              <a:latin typeface="Times New Roman" panose="02020603050405020304" pitchFamily="18" charset="0"/>
              <a:ea typeface="Symbol" panose="05050102010706020507" pitchFamily="18" charset="2"/>
              <a:cs typeface="Symbol" panose="05050102010706020507" pitchFamily="18" charset="2"/>
            </a:endParaRPr>
          </a:p>
          <a:p>
            <a:pPr marL="800100" lvl="1" indent="-342900" algn="just">
              <a:lnSpc>
                <a:spcPct val="150000"/>
              </a:lnSpc>
              <a:buClr>
                <a:srgbClr val="1F1F1F"/>
              </a:buClr>
              <a:buSzPts val="1200"/>
              <a:buFont typeface="Symbol" panose="05050102010706020507" pitchFamily="18" charset="2"/>
              <a:buChar char=""/>
            </a:pPr>
            <a:r>
              <a:rPr lang="en-IN" b="1" dirty="0">
                <a:effectLst/>
                <a:latin typeface="Times New Roman" panose="02020603050405020304" pitchFamily="18" charset="0"/>
                <a:ea typeface="Symbol" panose="05050102010706020507" pitchFamily="18" charset="2"/>
                <a:cs typeface="Symbol" panose="05050102010706020507" pitchFamily="18" charset="2"/>
              </a:rPr>
              <a:t>Keyboard:</a:t>
            </a:r>
            <a:r>
              <a:rPr lang="en-IN" dirty="0">
                <a:effectLst/>
                <a:latin typeface="Times New Roman" panose="02020603050405020304" pitchFamily="18" charset="0"/>
                <a:ea typeface="Symbol" panose="05050102010706020507" pitchFamily="18" charset="2"/>
                <a:cs typeface="Symbol" panose="05050102010706020507" pitchFamily="18" charset="2"/>
              </a:rPr>
              <a:t> Any multimedia keyboard</a:t>
            </a:r>
            <a:endParaRPr lang="en-IN" dirty="0">
              <a:effectLst/>
              <a:latin typeface="Times New Roman" panose="02020603050405020304" pitchFamily="18" charset="0"/>
              <a:ea typeface="Symbol" panose="05050102010706020507" pitchFamily="18" charset="2"/>
              <a:cs typeface="Symbol" panose="05050102010706020507" pitchFamily="18" charset="2"/>
            </a:endParaRPr>
          </a:p>
          <a:p>
            <a:pPr marL="800100" lvl="1" indent="-342900" algn="just">
              <a:lnSpc>
                <a:spcPct val="150000"/>
              </a:lnSpc>
              <a:buClr>
                <a:srgbClr val="1F1F1F"/>
              </a:buClr>
              <a:buSzPts val="1200"/>
              <a:buFont typeface="Symbol" panose="05050102010706020507" pitchFamily="18" charset="2"/>
              <a:buChar char=""/>
            </a:pPr>
            <a:r>
              <a:rPr lang="en-IN" b="1" dirty="0">
                <a:effectLst/>
                <a:latin typeface="Times New Roman" panose="02020603050405020304" pitchFamily="18" charset="0"/>
                <a:ea typeface="Symbol" panose="05050102010706020507" pitchFamily="18" charset="2"/>
                <a:cs typeface="Symbol" panose="05050102010706020507" pitchFamily="18" charset="2"/>
              </a:rPr>
              <a:t>Mouse:</a:t>
            </a:r>
            <a:r>
              <a:rPr lang="en-IN" dirty="0">
                <a:effectLst/>
                <a:latin typeface="Times New Roman" panose="02020603050405020304" pitchFamily="18" charset="0"/>
                <a:ea typeface="Symbol" panose="05050102010706020507" pitchFamily="18" charset="2"/>
                <a:cs typeface="Symbol" panose="05050102010706020507" pitchFamily="18" charset="2"/>
              </a:rPr>
              <a:t> Any optical mouse</a:t>
            </a:r>
            <a:endParaRPr lang="en-IN" dirty="0">
              <a:effectLst/>
              <a:latin typeface="Times New Roman" panose="02020603050405020304" pitchFamily="18" charset="0"/>
              <a:ea typeface="Symbol" panose="05050102010706020507" pitchFamily="18" charset="2"/>
              <a:cs typeface="Symbol" panose="05050102010706020507" pitchFamily="18" charset="2"/>
            </a:endParaRPr>
          </a:p>
          <a:p>
            <a:pPr marL="800100" lvl="1" indent="-342900" algn="just">
              <a:lnSpc>
                <a:spcPct val="150000"/>
              </a:lnSpc>
              <a:buClr>
                <a:srgbClr val="1F1F1F"/>
              </a:buClr>
              <a:buSzPts val="1200"/>
              <a:buFont typeface="Symbol" panose="05050102010706020507" pitchFamily="18" charset="2"/>
              <a:buChar char=""/>
            </a:pPr>
            <a:r>
              <a:rPr lang="en-IN" b="1" dirty="0">
                <a:effectLst/>
                <a:latin typeface="Times New Roman" panose="02020603050405020304" pitchFamily="18" charset="0"/>
                <a:ea typeface="Symbol" panose="05050102010706020507" pitchFamily="18" charset="2"/>
                <a:cs typeface="Symbol" panose="05050102010706020507" pitchFamily="18" charset="2"/>
              </a:rPr>
              <a:t>Hard Disk:</a:t>
            </a:r>
            <a:r>
              <a:rPr lang="en-IN" dirty="0">
                <a:effectLst/>
                <a:latin typeface="Times New Roman" panose="02020603050405020304" pitchFamily="18" charset="0"/>
                <a:ea typeface="Symbol" panose="05050102010706020507" pitchFamily="18" charset="2"/>
                <a:cs typeface="Symbol" panose="05050102010706020507" pitchFamily="18" charset="2"/>
              </a:rPr>
              <a:t> Minimum 100 GB</a:t>
            </a:r>
            <a:endParaRPr lang="en-IN" dirty="0">
              <a:effectLst/>
              <a:latin typeface="Times New Roman" panose="02020603050405020304" pitchFamily="18" charset="0"/>
              <a:ea typeface="Symbol" panose="05050102010706020507" pitchFamily="18" charset="2"/>
              <a:cs typeface="Symbol" panose="05050102010706020507" pitchFamily="18" charset="2"/>
            </a:endParaRPr>
          </a:p>
          <a:p>
            <a:endParaRPr lang="en-IN" sz="2400"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4008</Words>
  <Application>WPS Presentation</Application>
  <PresentationFormat>Widescreen</PresentationFormat>
  <Paragraphs>75</Paragraphs>
  <Slides>8</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8</vt:i4>
      </vt:variant>
    </vt:vector>
  </HeadingPairs>
  <TitlesOfParts>
    <vt:vector size="19" baseType="lpstr">
      <vt:lpstr>Arial</vt:lpstr>
      <vt:lpstr>SimSun</vt:lpstr>
      <vt:lpstr>Wingdings</vt:lpstr>
      <vt:lpstr>Times New Roman</vt:lpstr>
      <vt:lpstr>Times New Roman</vt:lpstr>
      <vt:lpstr>Symbol</vt:lpstr>
      <vt:lpstr>Microsoft YaHei</vt:lpstr>
      <vt:lpstr>Arial Unicode MS</vt:lpstr>
      <vt:lpstr>Calibri Light</vt:lpstr>
      <vt:lpstr>Calibri</vt:lpstr>
      <vt:lpstr>Office Theme</vt:lpstr>
      <vt:lpstr>PowerPoint 演示文稿</vt:lpstr>
      <vt:lpstr>Title-:Smart convo</vt:lpstr>
      <vt:lpstr>OBJECTIVE:</vt:lpstr>
      <vt:lpstr>End User/Beneficiary</vt:lpstr>
      <vt:lpstr>Differences between </vt:lpstr>
      <vt:lpstr>Literature Survey </vt:lpstr>
      <vt:lpstr>Software used for the project: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Prasanthkumar vavilapalli</dc:creator>
  <cp:lastModifiedBy>khayy</cp:lastModifiedBy>
  <cp:revision>54</cp:revision>
  <dcterms:created xsi:type="dcterms:W3CDTF">2024-04-10T05:36:00Z</dcterms:created>
  <dcterms:modified xsi:type="dcterms:W3CDTF">2024-05-10T11:05:26Z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C60DC051ADD04D1DB690DBA70B96523A_12</vt:lpwstr>
  </property>
  <property fmtid="{D5CDD505-2E9C-101B-9397-08002B2CF9AE}" pid="3" name="KSOProductBuildVer">
    <vt:lpwstr>1033-12.2.0.13472</vt:lpwstr>
  </property>
</Properties>
</file>